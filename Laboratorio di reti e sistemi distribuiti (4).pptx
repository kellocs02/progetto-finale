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8" r:id="rId8"/>
    <p:sldId id="267" r:id="rId9"/>
    <p:sldId id="262" r:id="rId10"/>
    <p:sldId id="266" r:id="rId11"/>
    <p:sldId id="263" r:id="rId12"/>
    <p:sldId id="264" r:id="rId13"/>
    <p:sldId id="272" r:id="rId14"/>
    <p:sldId id="270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F2B94-3588-40B0-5B7A-1DF236EDD93A}" v="200" dt="2025-08-31T14:41:17.342"/>
    <p1510:client id="{D35FEFAD-6FE1-077F-F546-2B4843E6B5A5}" v="151" dt="2025-08-30T17:15:32.833"/>
    <p1510:client id="{E08BA615-54D3-C004-F2BE-33EDF8C14846}" v="101" dt="2025-09-01T17:02:44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7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5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50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6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96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72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2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4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9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7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05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01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na rete di punti collegati">
            <a:extLst>
              <a:ext uri="{FF2B5EF4-FFF2-40B4-BE49-F238E27FC236}">
                <a16:creationId xmlns:a16="http://schemas.microsoft.com/office/drawing/2014/main" id="{484732E0-9CBF-0603-41CA-B240A92BC2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77" t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6F6E9F3-3D0D-AF88-1DF4-654A7B725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it-IT">
                <a:solidFill>
                  <a:srgbClr val="FFFFFF"/>
                </a:solidFill>
              </a:rPr>
              <a:t>Laboratorio Di Reti e di Sistemi Distribuiti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57485DA-6813-4892-3267-8A0957796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 fontScale="92500" lnSpcReduction="10000"/>
          </a:bodyPr>
          <a:lstStyle/>
          <a:p>
            <a:pPr algn="r"/>
            <a:r>
              <a:rPr lang="it-IT" dirty="0">
                <a:solidFill>
                  <a:srgbClr val="FFFFFF"/>
                </a:solidFill>
              </a:rPr>
              <a:t>Alberto Paludetti</a:t>
            </a:r>
          </a:p>
          <a:p>
            <a:pPr algn="r"/>
            <a:r>
              <a:rPr lang="it-IT" dirty="0">
                <a:solidFill>
                  <a:srgbClr val="FFFFFF"/>
                </a:solidFill>
              </a:rPr>
              <a:t>Matricola: 526650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96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FEE3BA5-C8D1-4E91-DA36-B87D47812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MapReduce Wordcount del Signore Degli Anelli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Primo piano di due anelli d'oro">
            <a:extLst>
              <a:ext uri="{FF2B5EF4-FFF2-40B4-BE49-F238E27FC236}">
                <a16:creationId xmlns:a16="http://schemas.microsoft.com/office/drawing/2014/main" id="{0D267699-553E-2877-D4C6-06401AFF0A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28" r="19263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52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3FE6CE-F7C6-7E2D-9EE9-5F651AC9C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Obiettivi Del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A2E571-4B00-25E1-E6D4-A190CF2D0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it-IT" sz="2800" dirty="0">
                <a:ea typeface="+mn-lt"/>
                <a:cs typeface="+mn-lt"/>
              </a:rPr>
              <a:t>Implementare un'architettura di comunicazione </a:t>
            </a:r>
            <a:r>
              <a:rPr lang="it-IT" sz="2800" b="1" dirty="0">
                <a:solidFill>
                  <a:srgbClr val="FF0000"/>
                </a:solidFill>
                <a:ea typeface="+mn-lt"/>
                <a:cs typeface="+mn-lt"/>
              </a:rPr>
              <a:t>Client-Server</a:t>
            </a:r>
          </a:p>
          <a:p>
            <a:r>
              <a:rPr lang="it-IT" sz="2800" dirty="0">
                <a:ea typeface="+mn-lt"/>
                <a:cs typeface="+mn-lt"/>
              </a:rPr>
              <a:t>Suddividere il testo in </a:t>
            </a:r>
            <a:r>
              <a:rPr lang="it-IT" sz="2800" b="1" dirty="0" err="1">
                <a:solidFill>
                  <a:srgbClr val="FF0000"/>
                </a:solidFill>
                <a:ea typeface="+mn-lt"/>
                <a:cs typeface="+mn-lt"/>
              </a:rPr>
              <a:t>chunk</a:t>
            </a:r>
            <a:r>
              <a:rPr lang="it-IT" sz="2800" b="1" dirty="0">
                <a:solidFill>
                  <a:srgbClr val="FF0000"/>
                </a:solidFill>
                <a:ea typeface="+mn-lt"/>
                <a:cs typeface="+mn-lt"/>
              </a:rPr>
              <a:t> e distribuirli ai client</a:t>
            </a:r>
            <a:r>
              <a:rPr lang="it-IT" sz="2800" dirty="0">
                <a:ea typeface="+mn-lt"/>
                <a:cs typeface="+mn-lt"/>
              </a:rPr>
              <a:t>.</a:t>
            </a:r>
            <a:endParaRPr lang="it-IT" sz="2800"/>
          </a:p>
          <a:p>
            <a:r>
              <a:rPr lang="it-IT" sz="2800" dirty="0">
                <a:ea typeface="+mn-lt"/>
                <a:cs typeface="+mn-lt"/>
              </a:rPr>
              <a:t>Implementare la fase</a:t>
            </a:r>
            <a:r>
              <a:rPr lang="it-IT" sz="2800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it-IT" sz="2800" b="1" dirty="0" err="1">
                <a:solidFill>
                  <a:srgbClr val="FF0000"/>
                </a:solidFill>
                <a:ea typeface="+mn-lt"/>
                <a:cs typeface="+mn-lt"/>
              </a:rPr>
              <a:t>Map</a:t>
            </a:r>
            <a:r>
              <a:rPr lang="it-IT" sz="2800" dirty="0">
                <a:ea typeface="+mn-lt"/>
                <a:cs typeface="+mn-lt"/>
              </a:rPr>
              <a:t> per il conteggio delle parole.</a:t>
            </a:r>
            <a:endParaRPr lang="it-IT" sz="2800"/>
          </a:p>
          <a:p>
            <a:r>
              <a:rPr lang="it-IT" sz="2800" dirty="0">
                <a:ea typeface="+mn-lt"/>
                <a:cs typeface="+mn-lt"/>
              </a:rPr>
              <a:t>Raccogliere e combinare i risultati (</a:t>
            </a:r>
            <a:r>
              <a:rPr lang="it-IT" sz="2800" b="1" dirty="0">
                <a:solidFill>
                  <a:srgbClr val="FF0000"/>
                </a:solidFill>
                <a:ea typeface="+mn-lt"/>
                <a:cs typeface="+mn-lt"/>
              </a:rPr>
              <a:t>Reduce</a:t>
            </a:r>
            <a:r>
              <a:rPr lang="it-IT" sz="2800" dirty="0">
                <a:ea typeface="+mn-lt"/>
                <a:cs typeface="+mn-lt"/>
              </a:rPr>
              <a:t>).</a:t>
            </a:r>
            <a:endParaRPr lang="it-IT" sz="2800"/>
          </a:p>
          <a:p>
            <a:pPr marL="0" indent="0">
              <a:buNone/>
            </a:pPr>
            <a:endParaRPr lang="it-IT" sz="2800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71961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6CA435E-67DB-D0C9-A2BD-2F3D8BA8F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061" y="820399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/>
              <a:t>MapReduce</a:t>
            </a:r>
          </a:p>
        </p:txBody>
      </p: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38F721-EB1D-CDDA-EB98-A049B90AB65F}"/>
              </a:ext>
            </a:extLst>
          </p:cNvPr>
          <p:cNvSpPr txBox="1"/>
          <p:nvPr/>
        </p:nvSpPr>
        <p:spPr>
          <a:xfrm>
            <a:off x="651363" y="1711173"/>
            <a:ext cx="3359523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sz="2000" dirty="0">
                <a:latin typeface="Rockwell"/>
                <a:ea typeface="+mn-lt"/>
                <a:cs typeface="+mn-lt"/>
              </a:rPr>
              <a:t>Creato da </a:t>
            </a:r>
            <a:r>
              <a:rPr lang="it-IT" sz="2000" dirty="0">
                <a:solidFill>
                  <a:srgbClr val="FF0000"/>
                </a:solidFill>
                <a:latin typeface="Rockwell"/>
                <a:ea typeface="+mn-lt"/>
                <a:cs typeface="+mn-lt"/>
              </a:rPr>
              <a:t>Google</a:t>
            </a:r>
            <a:r>
              <a:rPr lang="it-IT" sz="2000" dirty="0">
                <a:latin typeface="Rockwell"/>
                <a:ea typeface="+mn-lt"/>
                <a:cs typeface="+mn-lt"/>
              </a:rPr>
              <a:t> (2004)</a:t>
            </a:r>
            <a:endParaRPr lang="it-IT" sz="2000">
              <a:latin typeface="Rockwell"/>
            </a:endParaRPr>
          </a:p>
          <a:p>
            <a:pPr marL="285750" indent="-285750">
              <a:buFont typeface="Arial"/>
              <a:buChar char="•"/>
            </a:pPr>
            <a:endParaRPr lang="it-IT" sz="2000" dirty="0">
              <a:latin typeface="Rockwel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it-IT" sz="2000" b="1" dirty="0">
                <a:latin typeface="Rockwell"/>
                <a:ea typeface="+mn-lt"/>
                <a:cs typeface="+mn-lt"/>
              </a:rPr>
              <a:t>Obiettivo</a:t>
            </a:r>
            <a:r>
              <a:rPr lang="it-IT" sz="2000" dirty="0">
                <a:latin typeface="Rockwell"/>
                <a:ea typeface="+mn-lt"/>
                <a:cs typeface="+mn-lt"/>
              </a:rPr>
              <a:t>: elaborare grandi quantità di dati in parallelo su cluster di macchine.</a:t>
            </a:r>
          </a:p>
          <a:p>
            <a:pPr marL="285750" indent="-285750">
              <a:buFont typeface="Arial"/>
              <a:buChar char="•"/>
            </a:pPr>
            <a:endParaRPr lang="it-IT" sz="2000" dirty="0">
              <a:latin typeface="Rockwel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it-IT" sz="2000" dirty="0">
                <a:latin typeface="Rockwell"/>
                <a:ea typeface="+mn-lt"/>
                <a:cs typeface="+mn-lt"/>
              </a:rPr>
              <a:t>Divide il lavoro in due fasi principali: </a:t>
            </a:r>
            <a:r>
              <a:rPr lang="it-IT" sz="2000" b="1" dirty="0" err="1">
                <a:latin typeface="Rockwell"/>
                <a:ea typeface="+mn-lt"/>
                <a:cs typeface="+mn-lt"/>
              </a:rPr>
              <a:t>Map</a:t>
            </a:r>
            <a:r>
              <a:rPr lang="it-IT" sz="2000" dirty="0">
                <a:latin typeface="Rockwell"/>
                <a:ea typeface="+mn-lt"/>
                <a:cs typeface="+mn-lt"/>
              </a:rPr>
              <a:t> e </a:t>
            </a:r>
            <a:r>
              <a:rPr lang="it-IT" sz="2000" b="1" dirty="0">
                <a:latin typeface="Rockwell"/>
                <a:ea typeface="+mn-lt"/>
                <a:cs typeface="+mn-lt"/>
              </a:rPr>
              <a:t>Reduce</a:t>
            </a:r>
            <a:r>
              <a:rPr lang="it-IT" sz="2000" dirty="0">
                <a:latin typeface="Rockwell"/>
                <a:ea typeface="+mn-lt"/>
                <a:cs typeface="+mn-lt"/>
              </a:rPr>
              <a:t>.</a:t>
            </a:r>
            <a:endParaRPr lang="it-IT" sz="2400">
              <a:latin typeface="Rockwell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DB9A135-30F7-DFAA-99A8-B069E09218CC}"/>
              </a:ext>
            </a:extLst>
          </p:cNvPr>
          <p:cNvSpPr/>
          <p:nvPr/>
        </p:nvSpPr>
        <p:spPr>
          <a:xfrm>
            <a:off x="649491" y="517187"/>
            <a:ext cx="10897024" cy="84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Segnaposto contenuto 7" descr="Immagine che contiene testo, diagramma, mapp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AC012A1D-13CF-7652-306D-4BC91924B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1636" y="1479375"/>
            <a:ext cx="7661641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1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8901EE5-BD7B-8BD8-EF1A-45AA95D8A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Panoramica Del Sistema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CD98B7-0203-207E-29C6-2D1E1FD9F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548" y="1501685"/>
            <a:ext cx="4563618" cy="37604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2800" b="1" dirty="0">
                <a:latin typeface="Gill Sans MT"/>
              </a:rPr>
              <a:t>Nodo Master</a:t>
            </a:r>
          </a:p>
          <a:p>
            <a:r>
              <a:rPr lang="it-IT" sz="2800" b="1" dirty="0">
                <a:latin typeface="Gill Sans MT"/>
              </a:rPr>
              <a:t>Nodi lavoratori (client)</a:t>
            </a:r>
          </a:p>
          <a:p>
            <a:r>
              <a:rPr lang="it-IT" sz="2800" b="1" dirty="0">
                <a:latin typeface="Gill Sans MT"/>
              </a:rPr>
              <a:t>Client-Server </a:t>
            </a:r>
          </a:p>
          <a:p>
            <a:r>
              <a:rPr lang="it-IT" sz="2800" b="1" dirty="0" err="1">
                <a:latin typeface="Gill Sans MT"/>
              </a:rPr>
              <a:t>Socket</a:t>
            </a:r>
            <a:r>
              <a:rPr lang="it-IT" sz="2800" b="1" dirty="0">
                <a:latin typeface="Gill Sans MT"/>
              </a:rPr>
              <a:t> TCP</a:t>
            </a:r>
          </a:p>
          <a:p>
            <a:r>
              <a:rPr lang="it-IT" sz="2800" b="1" err="1">
                <a:latin typeface="Gill Sans MT"/>
              </a:rPr>
              <a:t>Thread</a:t>
            </a:r>
            <a:endParaRPr lang="it-IT" sz="2800" b="1">
              <a:latin typeface="Gill Sans MT"/>
            </a:endParaRPr>
          </a:p>
          <a:p>
            <a:r>
              <a:rPr lang="it-IT" sz="2800" b="1" dirty="0">
                <a:latin typeface="Gill Sans MT"/>
              </a:rPr>
              <a:t>Meccanismi Di Sincronizzazione</a:t>
            </a:r>
          </a:p>
          <a:p>
            <a:endParaRPr lang="it-IT" sz="24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A9160050-875D-D668-6B59-B4E48D2B713D}"/>
              </a:ext>
            </a:extLst>
          </p:cNvPr>
          <p:cNvSpPr/>
          <p:nvPr/>
        </p:nvSpPr>
        <p:spPr>
          <a:xfrm>
            <a:off x="697601" y="541242"/>
            <a:ext cx="11065411" cy="84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 descr="Immagine che contiene schermo, schermata, testo, computer&#10;&#10;Il contenuto generato dall&amp;#39;IA potrebbe non essere corretto.">
            <a:extLst>
              <a:ext uri="{FF2B5EF4-FFF2-40B4-BE49-F238E27FC236}">
                <a16:creationId xmlns:a16="http://schemas.microsoft.com/office/drawing/2014/main" id="{8EF9DA47-F785-37EC-16FC-5BE0CE667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25" y="1711994"/>
            <a:ext cx="5758613" cy="37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93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AFB58F8-3C36-92F0-D912-7E13B8E08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127" y="813783"/>
            <a:ext cx="4776170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err="1">
                <a:solidFill>
                  <a:srgbClr val="FF0000"/>
                </a:solidFill>
              </a:rPr>
              <a:t>Nodo</a:t>
            </a:r>
            <a:r>
              <a:rPr lang="en-US" sz="4400" dirty="0">
                <a:solidFill>
                  <a:srgbClr val="FF0000"/>
                </a:solidFill>
              </a:rPr>
              <a:t> Master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9238017-0E51-607B-4DDD-03439D54BA06}"/>
              </a:ext>
            </a:extLst>
          </p:cNvPr>
          <p:cNvSpPr txBox="1"/>
          <p:nvPr/>
        </p:nvSpPr>
        <p:spPr>
          <a:xfrm>
            <a:off x="913640" y="1711997"/>
            <a:ext cx="4278405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it-IT" sz="2400" dirty="0">
                <a:latin typeface="Gill Sans MT"/>
              </a:rPr>
              <a:t>Suddividere il File in </a:t>
            </a:r>
            <a:r>
              <a:rPr lang="it-IT" sz="2400" err="1">
                <a:latin typeface="Gill Sans MT"/>
              </a:rPr>
              <a:t>Chunk</a:t>
            </a:r>
            <a:endParaRPr lang="it-IT" sz="2400">
              <a:latin typeface="Gill Sans MT"/>
            </a:endParaRPr>
          </a:p>
          <a:p>
            <a:pPr marL="342900" indent="-342900">
              <a:buAutoNum type="arabicPeriod"/>
            </a:pPr>
            <a:endParaRPr lang="it-IT" sz="2400" dirty="0">
              <a:latin typeface="Gill Sans MT"/>
            </a:endParaRPr>
          </a:p>
          <a:p>
            <a:pPr marL="342900" indent="-342900">
              <a:buAutoNum type="arabicPeriod"/>
            </a:pPr>
            <a:r>
              <a:rPr lang="it-IT" sz="2400" dirty="0">
                <a:latin typeface="Gill Sans MT"/>
              </a:rPr>
              <a:t>Accettare le connessioni dei client</a:t>
            </a:r>
          </a:p>
          <a:p>
            <a:pPr marL="342900" indent="-342900">
              <a:buAutoNum type="arabicPeriod"/>
            </a:pPr>
            <a:endParaRPr lang="it-IT" sz="2400" dirty="0">
              <a:latin typeface="Gill Sans MT"/>
            </a:endParaRPr>
          </a:p>
          <a:p>
            <a:pPr marL="342900" indent="-342900">
              <a:buAutoNum type="arabicPeriod"/>
            </a:pPr>
            <a:r>
              <a:rPr lang="it-IT" sz="2400" dirty="0">
                <a:latin typeface="Gill Sans MT"/>
              </a:rPr>
              <a:t>Distribuire i </a:t>
            </a:r>
            <a:r>
              <a:rPr lang="it-IT" sz="2400" err="1">
                <a:latin typeface="Gill Sans MT"/>
              </a:rPr>
              <a:t>Chunk</a:t>
            </a:r>
            <a:endParaRPr lang="it-IT" sz="2400">
              <a:latin typeface="Gill Sans MT"/>
            </a:endParaRPr>
          </a:p>
          <a:p>
            <a:pPr marL="342900" indent="-342900">
              <a:buAutoNum type="arabicPeriod"/>
            </a:pPr>
            <a:endParaRPr lang="it-IT" sz="2400" dirty="0">
              <a:latin typeface="Gill Sans MT"/>
            </a:endParaRPr>
          </a:p>
          <a:p>
            <a:pPr marL="342900" indent="-342900">
              <a:buAutoNum type="arabicPeriod"/>
            </a:pPr>
            <a:r>
              <a:rPr lang="it-IT" sz="2400" dirty="0">
                <a:latin typeface="Gill Sans MT"/>
              </a:rPr>
              <a:t>Reduce</a:t>
            </a:r>
          </a:p>
          <a:p>
            <a:pPr marL="342900" indent="-342900">
              <a:buAutoNum type="arabicPeriod"/>
            </a:pPr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C7B7512-D5CC-5E2F-9FE5-76DE98A51ED1}"/>
              </a:ext>
            </a:extLst>
          </p:cNvPr>
          <p:cNvSpPr/>
          <p:nvPr/>
        </p:nvSpPr>
        <p:spPr>
          <a:xfrm>
            <a:off x="637463" y="360829"/>
            <a:ext cx="11125549" cy="9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3" name="Segnaposto contenuto 22" descr="un' stilizzato illustrazione raffigurante nube calcolo e dati Conservazione  con server, con un' nube collegato per multiplo server, che rappresentano  dati trasferimento e Conservazione. 46885115 Arte vettoriale a Vecteezy">
            <a:extLst>
              <a:ext uri="{FF2B5EF4-FFF2-40B4-BE49-F238E27FC236}">
                <a16:creationId xmlns:a16="http://schemas.microsoft.com/office/drawing/2014/main" id="{E14E8BC9-ABDD-2A7D-DBD4-9811D9352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2527" y="1470611"/>
            <a:ext cx="5965908" cy="411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7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B5D9D8-FD30-512A-4324-258ECE525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128" y="2922624"/>
            <a:ext cx="2811880" cy="34099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it-IT">
              <a:ea typeface="+mn-lt"/>
              <a:cs typeface="+mn-lt"/>
            </a:endParaRPr>
          </a:p>
          <a:p>
            <a:endParaRPr lang="it-IT" dirty="0"/>
          </a:p>
        </p:txBody>
      </p:sp>
      <p:pic>
        <p:nvPicPr>
          <p:cNvPr id="10" name="Immagine 9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E1B6C037-4DB5-1A38-3927-25397900B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7"/>
            <a:ext cx="12200021" cy="686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14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egnaposto contenuto 3" descr="Immagine che contiene testo, schermata, diagramm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8ED74122-884D-E602-D8BE-CD7A0CCAD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2" r="273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B6C52FF2-A691-A4B3-68A1-918B74E31F6A}"/>
              </a:ext>
            </a:extLst>
          </p:cNvPr>
          <p:cNvSpPr/>
          <p:nvPr/>
        </p:nvSpPr>
        <p:spPr>
          <a:xfrm>
            <a:off x="486104" y="357290"/>
            <a:ext cx="58369" cy="5998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6C47E125-11EE-AAC8-C767-1BD5B3FFF2D4}"/>
              </a:ext>
            </a:extLst>
          </p:cNvPr>
          <p:cNvSpPr/>
          <p:nvPr/>
        </p:nvSpPr>
        <p:spPr>
          <a:xfrm>
            <a:off x="11375423" y="383144"/>
            <a:ext cx="66390" cy="59586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A118A9C-E55C-C84F-0691-627D54D8107A}"/>
              </a:ext>
            </a:extLst>
          </p:cNvPr>
          <p:cNvSpPr/>
          <p:nvPr/>
        </p:nvSpPr>
        <p:spPr>
          <a:xfrm>
            <a:off x="986232" y="6278425"/>
            <a:ext cx="10019008" cy="721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7719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B5A1B84-15D2-FB1A-7C58-8636CADD9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Distribuzione Dei </a:t>
            </a:r>
            <a:r>
              <a:rPr lang="it-IT" dirty="0" err="1">
                <a:solidFill>
                  <a:srgbClr val="FF0000"/>
                </a:solidFill>
              </a:rPr>
              <a:t>chunk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A89C23-64F3-6217-03BE-5F0485FF6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5588" y="1713492"/>
            <a:ext cx="4563618" cy="3760459"/>
          </a:xfrm>
        </p:spPr>
        <p:txBody>
          <a:bodyPr anchor="t">
            <a:normAutofit fontScale="85000" lnSpcReduction="10000"/>
          </a:bodyPr>
          <a:lstStyle/>
          <a:p>
            <a:r>
              <a:rPr lang="en-US" sz="3600" err="1">
                <a:latin typeface="Calibri"/>
                <a:ea typeface="Calibri"/>
                <a:cs typeface="Calibri"/>
              </a:rPr>
              <a:t>Dipende</a:t>
            </a:r>
            <a:r>
              <a:rPr lang="en-US" sz="3600" dirty="0">
                <a:latin typeface="Calibri"/>
                <a:ea typeface="Calibri"/>
                <a:cs typeface="Calibri"/>
              </a:rPr>
              <a:t> dal </a:t>
            </a:r>
            <a:r>
              <a:rPr lang="en-US" sz="3600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numero</a:t>
            </a:r>
            <a:r>
              <a:rPr lang="en-US" sz="360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di client </a:t>
            </a:r>
            <a:r>
              <a:rPr lang="en-US" sz="3600" dirty="0">
                <a:latin typeface="Calibri"/>
                <a:ea typeface="Calibri"/>
                <a:cs typeface="Calibri"/>
              </a:rPr>
              <a:t>e dal </a:t>
            </a:r>
            <a:r>
              <a:rPr lang="en-US" sz="3600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numero</a:t>
            </a:r>
            <a:r>
              <a:rPr lang="en-US" sz="360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di chunk</a:t>
            </a:r>
          </a:p>
          <a:p>
            <a:r>
              <a:rPr lang="en-US" sz="3600" dirty="0">
                <a:latin typeface="Calibri"/>
                <a:ea typeface="Calibri"/>
                <a:cs typeface="Calibri"/>
              </a:rPr>
              <a:t>Distribuzione </a:t>
            </a:r>
            <a:r>
              <a:rPr lang="en-US" sz="3600" dirty="0" err="1">
                <a:latin typeface="Calibri"/>
                <a:ea typeface="Calibri"/>
                <a:cs typeface="Calibri"/>
              </a:rPr>
              <a:t>simmetrica</a:t>
            </a:r>
            <a:endParaRPr lang="en-US" sz="3600" dirty="0">
              <a:latin typeface="Calibri"/>
              <a:ea typeface="Calibri"/>
              <a:cs typeface="Calibri"/>
            </a:endParaRPr>
          </a:p>
          <a:p>
            <a:r>
              <a:rPr lang="en-US" sz="3600" dirty="0">
                <a:latin typeface="Calibri"/>
                <a:ea typeface="Calibri"/>
                <a:cs typeface="Calibri"/>
              </a:rPr>
              <a:t>Distribuzione </a:t>
            </a:r>
            <a:r>
              <a:rPr lang="en-US" sz="3600" dirty="0" err="1">
                <a:latin typeface="Calibri"/>
                <a:ea typeface="Calibri"/>
                <a:cs typeface="Calibri"/>
              </a:rPr>
              <a:t>asimmetrica</a:t>
            </a:r>
            <a:endParaRPr lang="en-US" sz="36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8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F29D3E9C-4C0E-5D27-C40B-8B70C0F6634F}"/>
              </a:ext>
            </a:extLst>
          </p:cNvPr>
          <p:cNvSpPr/>
          <p:nvPr/>
        </p:nvSpPr>
        <p:spPr>
          <a:xfrm>
            <a:off x="674858" y="570225"/>
            <a:ext cx="11180791" cy="80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 descr="Immagine che contiene diagramma, Piano, Disegno tecnic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A0AAFCAF-803F-2461-5432-A9639503E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77" y="1957173"/>
            <a:ext cx="5837068" cy="328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89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7C2642-AD1B-2296-14B3-C4293B55B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7E53841-42BB-9274-52FF-79C232C6F5C5}"/>
              </a:ext>
            </a:extLst>
          </p:cNvPr>
          <p:cNvSpPr/>
          <p:nvPr/>
        </p:nvSpPr>
        <p:spPr>
          <a:xfrm>
            <a:off x="144331" y="252580"/>
            <a:ext cx="11955454" cy="108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78A9FFB-043D-F481-D755-CC8AFA092CF3}"/>
              </a:ext>
            </a:extLst>
          </p:cNvPr>
          <p:cNvSpPr/>
          <p:nvPr/>
        </p:nvSpPr>
        <p:spPr>
          <a:xfrm>
            <a:off x="104225" y="6148053"/>
            <a:ext cx="11955454" cy="108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C6670B0-78D6-998B-74A6-526855B19F31}"/>
              </a:ext>
            </a:extLst>
          </p:cNvPr>
          <p:cNvSpPr/>
          <p:nvPr/>
        </p:nvSpPr>
        <p:spPr>
          <a:xfrm>
            <a:off x="120276" y="6001782"/>
            <a:ext cx="11979510" cy="721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C86C388-E336-351C-DDC0-377F39AABCA7}"/>
              </a:ext>
            </a:extLst>
          </p:cNvPr>
          <p:cNvSpPr/>
          <p:nvPr/>
        </p:nvSpPr>
        <p:spPr>
          <a:xfrm>
            <a:off x="168387" y="240552"/>
            <a:ext cx="11895316" cy="84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magine 9" descr="Immagine che contiene testo, schermata, Carattere, Rettangolo&#10;&#10;Il contenuto generato dall&amp;#39;IA potrebbe non essere corretto.">
            <a:extLst>
              <a:ext uri="{FF2B5EF4-FFF2-40B4-BE49-F238E27FC236}">
                <a16:creationId xmlns:a16="http://schemas.microsoft.com/office/drawing/2014/main" id="{245D39F4-F20B-0A20-DC55-D816DC5F2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" y="0"/>
            <a:ext cx="12171111" cy="6858000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8FF93186-E7F0-CC6F-4F5B-77BEA49B8013}"/>
              </a:ext>
            </a:extLst>
          </p:cNvPr>
          <p:cNvSpPr/>
          <p:nvPr/>
        </p:nvSpPr>
        <p:spPr>
          <a:xfrm>
            <a:off x="108248" y="276635"/>
            <a:ext cx="11979510" cy="9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339A0C0-2805-9B12-9077-08C3CE984131}"/>
              </a:ext>
            </a:extLst>
          </p:cNvPr>
          <p:cNvSpPr/>
          <p:nvPr/>
        </p:nvSpPr>
        <p:spPr>
          <a:xfrm>
            <a:off x="156358" y="6049893"/>
            <a:ext cx="11871261" cy="9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2488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E5842C8-9B79-1953-8542-9253260E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691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it-IT" err="1">
                <a:solidFill>
                  <a:srgbClr val="FF0000"/>
                </a:solidFill>
                <a:latin typeface="Consolas"/>
              </a:rPr>
              <a:t>Map</a:t>
            </a:r>
            <a:endParaRPr lang="it-IT">
              <a:solidFill>
                <a:srgbClr val="FF0000"/>
              </a:solidFill>
              <a:latin typeface="Consola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B9EB43-2F0D-F26C-DD76-790239630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901" y="1496028"/>
            <a:ext cx="5743062" cy="378308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2800" dirty="0">
                <a:latin typeface="Rockwell"/>
              </a:rPr>
              <a:t>Eseguita Dai </a:t>
            </a:r>
            <a:r>
              <a:rPr lang="it-IT" sz="2800" dirty="0">
                <a:solidFill>
                  <a:schemeClr val="accent5"/>
                </a:solidFill>
                <a:latin typeface="Rockwell"/>
              </a:rPr>
              <a:t>Client</a:t>
            </a:r>
          </a:p>
          <a:p>
            <a:r>
              <a:rPr lang="it-IT" sz="2800" dirty="0">
                <a:latin typeface="Rockwell"/>
              </a:rPr>
              <a:t>Implementa l'algoritmo di </a:t>
            </a:r>
            <a:r>
              <a:rPr lang="it-IT" sz="2800" err="1">
                <a:solidFill>
                  <a:srgbClr val="FF0000"/>
                </a:solidFill>
                <a:latin typeface="Rockwell"/>
              </a:rPr>
              <a:t>Wordcount</a:t>
            </a:r>
            <a:endParaRPr lang="it-IT" sz="2800">
              <a:solidFill>
                <a:srgbClr val="FF0000"/>
              </a:solidFill>
              <a:latin typeface="Rockwell"/>
            </a:endParaRPr>
          </a:p>
          <a:p>
            <a:r>
              <a:rPr lang="it-IT" sz="2800" dirty="0">
                <a:latin typeface="Rockwell"/>
              </a:rPr>
              <a:t>Crea coppie </a:t>
            </a:r>
            <a:r>
              <a:rPr lang="it-IT" sz="2800" dirty="0">
                <a:solidFill>
                  <a:srgbClr val="FF0000"/>
                </a:solidFill>
                <a:latin typeface="Rockwell"/>
              </a:rPr>
              <a:t>chiave-valore</a:t>
            </a:r>
            <a:r>
              <a:rPr lang="it-IT" sz="2800" dirty="0">
                <a:latin typeface="Rockwell"/>
              </a:rPr>
              <a:t> (Stringa-Contatore)</a:t>
            </a:r>
          </a:p>
          <a:p>
            <a:r>
              <a:rPr lang="it-IT" sz="2800" dirty="0">
                <a:solidFill>
                  <a:srgbClr val="000000"/>
                </a:solidFill>
                <a:latin typeface="Rockwell"/>
              </a:rPr>
              <a:t>Restituisce un </a:t>
            </a:r>
            <a:r>
              <a:rPr lang="it-IT" sz="2800" dirty="0">
                <a:solidFill>
                  <a:srgbClr val="FF0000"/>
                </a:solidFill>
                <a:latin typeface="Rockwell"/>
              </a:rPr>
              <a:t>array dinamico </a:t>
            </a:r>
          </a:p>
          <a:p>
            <a:pPr marL="0" indent="0">
              <a:buNone/>
            </a:pPr>
            <a:endParaRPr lang="it-IT" sz="3200" dirty="0">
              <a:solidFill>
                <a:srgbClr val="000000"/>
              </a:solidFill>
              <a:latin typeface="Rockwell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1AD89BD6-8739-ECE3-C0A1-AF27E75631A6}"/>
              </a:ext>
            </a:extLst>
          </p:cNvPr>
          <p:cNvSpPr/>
          <p:nvPr/>
        </p:nvSpPr>
        <p:spPr>
          <a:xfrm>
            <a:off x="686069" y="588038"/>
            <a:ext cx="11158729" cy="98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 descr="Immagine che contiene testo, schermata, numero, orologio&#10;&#10;Il contenuto generato dall&amp;#39;IA potrebbe non essere corretto.">
            <a:extLst>
              <a:ext uri="{FF2B5EF4-FFF2-40B4-BE49-F238E27FC236}">
                <a16:creationId xmlns:a16="http://schemas.microsoft.com/office/drawing/2014/main" id="{01E1770F-ECB7-ACA7-811A-7DA3B64C2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55" y="1718009"/>
            <a:ext cx="5166059" cy="387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6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9DF21B-8FB1-53AB-4FE8-F098C22EC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0" dirty="0">
                <a:solidFill>
                  <a:srgbClr val="FF0000"/>
                </a:solidFill>
                <a:ea typeface="+mj-lt"/>
                <a:cs typeface="+mj-lt"/>
              </a:rPr>
              <a:t>Reduce – </a:t>
            </a:r>
            <a:r>
              <a:rPr lang="it-IT" b="0" dirty="0" err="1">
                <a:solidFill>
                  <a:srgbClr val="FF0000"/>
                </a:solidFill>
                <a:ea typeface="+mj-lt"/>
                <a:cs typeface="+mj-lt"/>
              </a:rPr>
              <a:t>WordCount</a:t>
            </a:r>
            <a:endParaRPr lang="it-IT" dirty="0" err="1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6A92E8-BFF6-AB08-6E73-3C4743F29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CEAE0F5-EABA-3C70-9546-5836C307D9AD}"/>
              </a:ext>
            </a:extLst>
          </p:cNvPr>
          <p:cNvSpPr txBox="1"/>
          <p:nvPr/>
        </p:nvSpPr>
        <p:spPr>
          <a:xfrm>
            <a:off x="636741" y="2201193"/>
            <a:ext cx="7122849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sz="2400" b="1" dirty="0">
                <a:ea typeface="+mn-lt"/>
                <a:cs typeface="+mn-lt"/>
              </a:rPr>
              <a:t>Input</a:t>
            </a:r>
            <a:r>
              <a:rPr lang="it-IT" sz="2400" dirty="0">
                <a:ea typeface="+mn-lt"/>
                <a:cs typeface="+mn-lt"/>
              </a:rPr>
              <a:t>: risultati parziali da più client (</a:t>
            </a:r>
            <a:r>
              <a:rPr lang="it-IT" sz="2400" dirty="0">
                <a:latin typeface="Consolas"/>
              </a:rPr>
              <a:t>risultati[i]</a:t>
            </a:r>
            <a:r>
              <a:rPr lang="it-IT" sz="2400" dirty="0">
                <a:ea typeface="+mn-lt"/>
                <a:cs typeface="+mn-lt"/>
              </a:rPr>
              <a:t>)</a:t>
            </a:r>
            <a:endParaRPr lang="it-IT" sz="2400"/>
          </a:p>
          <a:p>
            <a:pPr marL="285750" indent="-285750">
              <a:buFont typeface="Arial"/>
              <a:buChar char="•"/>
            </a:pPr>
            <a:r>
              <a:rPr lang="it-IT" sz="2400" b="1" dirty="0">
                <a:ea typeface="+mn-lt"/>
                <a:cs typeface="+mn-lt"/>
              </a:rPr>
              <a:t>Obiettivo</a:t>
            </a:r>
            <a:r>
              <a:rPr lang="it-IT" sz="2400" dirty="0">
                <a:ea typeface="+mn-lt"/>
                <a:cs typeface="+mn-lt"/>
              </a:rPr>
              <a:t>: sommare i contatori delle stesse parole</a:t>
            </a:r>
            <a:endParaRPr lang="it-IT" sz="2400"/>
          </a:p>
          <a:p>
            <a:pPr marL="285750" indent="-285750">
              <a:buFont typeface="Arial"/>
              <a:buChar char="•"/>
            </a:pPr>
            <a:r>
              <a:rPr lang="it-IT" sz="2400" b="1" dirty="0">
                <a:ea typeface="+mn-lt"/>
                <a:cs typeface="+mn-lt"/>
              </a:rPr>
              <a:t>Strategia</a:t>
            </a:r>
            <a:r>
              <a:rPr lang="it-IT" sz="2400" dirty="0">
                <a:ea typeface="+mn-lt"/>
                <a:cs typeface="+mn-lt"/>
              </a:rPr>
              <a:t>:</a:t>
            </a:r>
            <a:endParaRPr lang="it-IT" sz="2400"/>
          </a:p>
          <a:p>
            <a:pPr marL="285750" indent="-285750">
              <a:buFont typeface="Arial"/>
              <a:buChar char="•"/>
            </a:pPr>
            <a:r>
              <a:rPr lang="it-IT" sz="2400" dirty="0">
                <a:ea typeface="+mn-lt"/>
                <a:cs typeface="+mn-lt"/>
              </a:rPr>
              <a:t>Scorro ogni risultato parziale</a:t>
            </a:r>
            <a:endParaRPr lang="it-IT" sz="2400"/>
          </a:p>
          <a:p>
            <a:pPr marL="285750" indent="-285750">
              <a:buFont typeface="Arial"/>
              <a:buChar char="•"/>
            </a:pPr>
            <a:r>
              <a:rPr lang="it-IT" sz="2400" dirty="0">
                <a:ea typeface="+mn-lt"/>
                <a:cs typeface="+mn-lt"/>
              </a:rPr>
              <a:t>Se la parola è </a:t>
            </a:r>
            <a:r>
              <a:rPr lang="it-IT" sz="2400" b="1" dirty="0">
                <a:ea typeface="+mn-lt"/>
                <a:cs typeface="+mn-lt"/>
              </a:rPr>
              <a:t>già presente</a:t>
            </a:r>
            <a:r>
              <a:rPr lang="it-IT" sz="2400" dirty="0">
                <a:ea typeface="+mn-lt"/>
                <a:cs typeface="+mn-lt"/>
              </a:rPr>
              <a:t> → aggiorno contatore</a:t>
            </a:r>
            <a:endParaRPr lang="it-IT" sz="2400"/>
          </a:p>
          <a:p>
            <a:pPr marL="285750" indent="-285750">
              <a:buFont typeface="Arial"/>
              <a:buChar char="•"/>
            </a:pPr>
            <a:r>
              <a:rPr lang="it-IT" sz="2400" dirty="0">
                <a:ea typeface="+mn-lt"/>
                <a:cs typeface="+mn-lt"/>
              </a:rPr>
              <a:t>Se </a:t>
            </a:r>
            <a:r>
              <a:rPr lang="it-IT" sz="2400" b="1" dirty="0">
                <a:ea typeface="+mn-lt"/>
                <a:cs typeface="+mn-lt"/>
              </a:rPr>
              <a:t>nuova</a:t>
            </a:r>
            <a:r>
              <a:rPr lang="it-IT" sz="2400" dirty="0">
                <a:ea typeface="+mn-lt"/>
                <a:cs typeface="+mn-lt"/>
              </a:rPr>
              <a:t> → aggiungo al vettore dinamico</a:t>
            </a:r>
            <a:endParaRPr lang="it-IT" sz="2400" dirty="0"/>
          </a:p>
          <a:p>
            <a:pPr marL="285750" indent="-285750">
              <a:buFont typeface="Arial"/>
              <a:buChar char="•"/>
            </a:pPr>
            <a:r>
              <a:rPr lang="it-IT" sz="2400" b="1" dirty="0">
                <a:ea typeface="+mn-lt"/>
                <a:cs typeface="+mn-lt"/>
              </a:rPr>
              <a:t>Output</a:t>
            </a:r>
            <a:r>
              <a:rPr lang="it-IT" sz="2400" dirty="0">
                <a:ea typeface="+mn-lt"/>
                <a:cs typeface="+mn-lt"/>
              </a:rPr>
              <a:t>: array unico di </a:t>
            </a:r>
            <a:r>
              <a:rPr lang="it-IT" sz="2400" dirty="0">
                <a:latin typeface="Consolas"/>
              </a:rPr>
              <a:t>(parola, conteggio)</a:t>
            </a:r>
            <a:r>
              <a:rPr lang="it-IT" sz="2400" dirty="0">
                <a:ea typeface="+mn-lt"/>
                <a:cs typeface="+mn-lt"/>
              </a:rPr>
              <a:t> </a:t>
            </a:r>
            <a:endParaRPr lang="it-IT" sz="2400" dirty="0">
              <a:latin typeface="Consolas"/>
            </a:endParaRPr>
          </a:p>
          <a:p>
            <a:pPr algn="l"/>
            <a:endParaRPr lang="it-IT" dirty="0"/>
          </a:p>
        </p:txBody>
      </p:sp>
      <p:pic>
        <p:nvPicPr>
          <p:cNvPr id="4" name="Immagine 3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DCC77068-B012-C47C-6F17-12514C05D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7"/>
            <a:ext cx="12192000" cy="684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92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36BE296-D8D2-4E09-82C6-8E5322A97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it-IT"/>
              <a:t>Conclusioni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BF7E38-B2EE-1B92-3D2D-0E7325558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it-IT"/>
          </a:p>
          <a:p>
            <a:r>
              <a:rPr lang="it-IT" b="1">
                <a:ea typeface="+mn-lt"/>
                <a:cs typeface="+mn-lt"/>
              </a:rPr>
              <a:t>Server TCP </a:t>
            </a:r>
            <a:r>
              <a:rPr lang="it-IT" b="1" err="1">
                <a:ea typeface="+mn-lt"/>
                <a:cs typeface="+mn-lt"/>
              </a:rPr>
              <a:t>multithread</a:t>
            </a:r>
            <a:r>
              <a:rPr lang="it-IT">
                <a:ea typeface="+mn-lt"/>
                <a:cs typeface="+mn-lt"/>
              </a:rPr>
              <a:t> funzionante, capace di gestire più client contemporaneamente.</a:t>
            </a:r>
            <a:endParaRPr lang="it-IT"/>
          </a:p>
          <a:p>
            <a:r>
              <a:rPr lang="it-IT">
                <a:ea typeface="+mn-lt"/>
                <a:cs typeface="+mn-lt"/>
              </a:rPr>
              <a:t>Implementazione corretta del </a:t>
            </a:r>
            <a:r>
              <a:rPr lang="it-IT" b="1" err="1">
                <a:ea typeface="+mn-lt"/>
                <a:cs typeface="+mn-lt"/>
              </a:rPr>
              <a:t>MapReduce</a:t>
            </a:r>
            <a:r>
              <a:rPr lang="it-IT">
                <a:ea typeface="+mn-lt"/>
                <a:cs typeface="+mn-lt"/>
              </a:rPr>
              <a:t> per il conteggio parole.</a:t>
            </a:r>
            <a:endParaRPr lang="it-IT"/>
          </a:p>
          <a:p>
            <a:r>
              <a:rPr lang="it-IT">
                <a:ea typeface="+mn-lt"/>
                <a:cs typeface="+mn-lt"/>
              </a:rPr>
              <a:t>Risultati raccolti e combinati in modo efficiente.</a:t>
            </a:r>
            <a:endParaRPr lang="it-IT"/>
          </a:p>
          <a:p>
            <a:endParaRPr lang="it-IT" dirty="0"/>
          </a:p>
        </p:txBody>
      </p:sp>
      <p:pic>
        <p:nvPicPr>
          <p:cNvPr id="4" name="Immagine 3" descr="Immagine che contiene testo, Carattere, numero, documento&#10;&#10;Il contenuto generato dall&amp;#39;IA potrebbe non essere corretto.">
            <a:extLst>
              <a:ext uri="{FF2B5EF4-FFF2-40B4-BE49-F238E27FC236}">
                <a16:creationId xmlns:a16="http://schemas.microsoft.com/office/drawing/2014/main" id="{29E52D36-D107-DACA-B010-7554667E6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671" y="914400"/>
            <a:ext cx="3096844" cy="538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48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imo piano di campana su un marciapiede">
            <a:extLst>
              <a:ext uri="{FF2B5EF4-FFF2-40B4-BE49-F238E27FC236}">
                <a16:creationId xmlns:a16="http://schemas.microsoft.com/office/drawing/2014/main" id="{6B609143-FCE1-D747-775F-B63DA9E6D9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AE73BFA-6605-AEB0-F3B3-8522EFFFB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892948" cy="342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Grazie a Tutti</a:t>
            </a:r>
            <a:endParaRPr lang="en-US" sz="5400" b="1" kern="1200" dirty="0">
              <a:latin typeface="+mj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93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5" baseType="lpstr">
      <vt:lpstr>DashVTI</vt:lpstr>
      <vt:lpstr>Laboratorio Di Reti e di Sistemi Distribuiti</vt:lpstr>
      <vt:lpstr>MapReduce Wordcount del Signore Degli Anelli</vt:lpstr>
      <vt:lpstr>Obiettivi Del Progetto</vt:lpstr>
      <vt:lpstr>MapReduce</vt:lpstr>
      <vt:lpstr>Panoramica Del Sistema</vt:lpstr>
      <vt:lpstr>Nodo Master</vt:lpstr>
      <vt:lpstr>Presentazione standard di PowerPoint</vt:lpstr>
      <vt:lpstr>Presentazione standard di PowerPoint</vt:lpstr>
      <vt:lpstr>Distribuzione Dei chunk</vt:lpstr>
      <vt:lpstr>Presentazione standard di PowerPoint</vt:lpstr>
      <vt:lpstr>Map</vt:lpstr>
      <vt:lpstr>Reduce – WordCount</vt:lpstr>
      <vt:lpstr>Conclusioni</vt:lpstr>
      <vt:lpstr>Grazie a Tutti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572</cp:revision>
  <dcterms:created xsi:type="dcterms:W3CDTF">2025-08-22T14:03:22Z</dcterms:created>
  <dcterms:modified xsi:type="dcterms:W3CDTF">2025-09-01T17:03:33Z</dcterms:modified>
</cp:coreProperties>
</file>